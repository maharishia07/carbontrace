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54864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Calibri"/>
              </a:rPr>
              <a:t>CarbonTrace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4577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F1F8E9"/>
                </a:solidFill>
                <a:latin typeface="Calibri"/>
              </a:rPr>
              <a:t>A Fully Software-Based Carbon Emission Monitor for Cars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F9A825"/>
                </a:solidFill>
                <a:latin typeface="Calibri"/>
              </a:rPr>
              <a:t>Know your car's emissions. Service it before it pollutes.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F1F8E9"/>
                </a:solidFill>
                <a:latin typeface="Calibri"/>
              </a:rPr>
              <a:t>MSME Hackathon 2026</a:t>
            </a:r>
          </a:p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F1F8E9"/>
                </a:solidFill>
                <a:latin typeface="Calibri"/>
              </a:rPr>
              <a:t>Team: &lt;Your Name&gt;   |   Mentor: &lt;Mentor Name&gt;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Brief Explanation of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8585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5E20"/>
                </a:solidFill>
                <a:latin typeface="Calibri"/>
              </a:rPr>
              <a:t>A mobile app that estimates and continuously tracks a car's carbon emissions using only software — no sensors, no OBD dongles, no hardware at 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111858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43A047"/>
                </a:solidFill>
                <a:latin typeface="Calibri"/>
              </a:rPr>
              <a:t>▸ </a:t>
            </a:r>
            <a:r>
              <a:rPr sz="1800" b="1">
                <a:solidFill>
                  <a:srgbClr val="212121"/>
                </a:solidFill>
                <a:latin typeface="Calibri"/>
              </a:rPr>
              <a:t>The problem</a:t>
            </a:r>
            <a:r>
              <a:rPr sz="1800">
                <a:solidFill>
                  <a:srgbClr val="212121"/>
                </a:solidFill>
                <a:latin typeface="Calibri"/>
              </a:rPr>
              <a:t> — car owners have no visibility into their vehicle's emissions between annual PUC tests; a degrading engine silently pollutes for months and then fails the test.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43A047"/>
                </a:solidFill>
                <a:latin typeface="Calibri"/>
              </a:rPr>
              <a:t>▸ </a:t>
            </a:r>
            <a:r>
              <a:rPr sz="1800" b="1">
                <a:solidFill>
                  <a:srgbClr val="212121"/>
                </a:solidFill>
                <a:latin typeface="Calibri"/>
              </a:rPr>
              <a:t>Our approach</a:t>
            </a:r>
            <a:r>
              <a:rPr sz="1800">
                <a:solidFill>
                  <a:srgbClr val="212121"/>
                </a:solidFill>
                <a:latin typeface="Calibri"/>
              </a:rPr>
              <a:t> — the app auto-starts when the car starts (Bluetooth / motion detection), records every trip with phone GPS, and runs the drive data through standard emission models (BS6 / COPERT factors) to estimate CO2 per trip and per km.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43A047"/>
                </a:solidFill>
                <a:latin typeface="Calibri"/>
              </a:rPr>
              <a:t>▸ </a:t>
            </a:r>
            <a:r>
              <a:rPr sz="1800" b="1">
                <a:solidFill>
                  <a:srgbClr val="212121"/>
                </a:solidFill>
                <a:latin typeface="Calibri"/>
              </a:rPr>
              <a:t>Early warning</a:t>
            </a:r>
            <a:r>
              <a:rPr sz="1800">
                <a:solidFill>
                  <a:srgbClr val="212121"/>
                </a:solidFill>
                <a:latin typeface="Calibri"/>
              </a:rPr>
              <a:t> — every car gets a personal emission baseline; when recent trips drift above it, the owner is alerted to service the vehicle before emissions worsen or a PUC test is failed.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43A047"/>
                </a:solidFill>
                <a:latin typeface="Calibri"/>
              </a:rPr>
              <a:t>▸ </a:t>
            </a:r>
            <a:r>
              <a:rPr sz="1800" b="1">
                <a:solidFill>
                  <a:srgbClr val="212121"/>
                </a:solidFill>
                <a:latin typeface="Calibri"/>
              </a:rPr>
              <a:t>Why it matters</a:t>
            </a:r>
            <a:r>
              <a:rPr sz="1800">
                <a:solidFill>
                  <a:srgbClr val="212121"/>
                </a:solidFill>
                <a:latin typeface="Calibri"/>
              </a:rPr>
              <a:t> — continuous, zero-cost emission awareness for every car owner — and cleaner air, since faults are fixed months earlier than today.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Architectural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25420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B5E20"/>
                </a:solidFill>
                <a:latin typeface="Calibri"/>
              </a:rPr>
              <a:t>1. DATA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2542032" cy="9601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212121"/>
                </a:solidFill>
                <a:latin typeface="Calibri"/>
              </a:rPr>
              <a:t>Car Bluetooth</a:t>
            </a:r>
          </a:p>
          <a:p>
            <a:pPr algn="ctr"/>
            <a:r>
              <a:rPr sz="1350" b="0">
                <a:solidFill>
                  <a:srgbClr val="212121"/>
                </a:solidFill>
                <a:latin typeface="Calibri"/>
              </a:rPr>
              <a:t>(ignition / trip trigger)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090671"/>
            <a:ext cx="2542032" cy="9601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212121"/>
                </a:solidFill>
                <a:latin typeface="Calibri"/>
              </a:rPr>
              <a:t>Phone GPS + motion</a:t>
            </a:r>
          </a:p>
          <a:p>
            <a:pPr algn="ctr"/>
            <a:r>
              <a:rPr sz="1350" b="0">
                <a:solidFill>
                  <a:srgbClr val="212121"/>
                </a:solidFill>
                <a:latin typeface="Calibri"/>
              </a:rPr>
              <a:t>sensors (drive data)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306823"/>
            <a:ext cx="2542032" cy="9601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212121"/>
                </a:solidFill>
                <a:latin typeface="Calibri"/>
              </a:rPr>
              <a:t>Connected-car API</a:t>
            </a:r>
          </a:p>
          <a:p>
            <a:pPr algn="ctr"/>
            <a:r>
              <a:rPr sz="1350" b="0">
                <a:solidFill>
                  <a:srgbClr val="212121"/>
                </a:solidFill>
                <a:latin typeface="Calibri"/>
              </a:rPr>
              <a:t>(optional, fuel 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234440"/>
            <a:ext cx="25420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B5E20"/>
                </a:solidFill>
                <a:latin typeface="Calibri"/>
              </a:rPr>
              <a:t>2. MOBILE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74519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212121"/>
                </a:solidFill>
                <a:latin typeface="Calibri"/>
              </a:rPr>
              <a:t>Auto-start trip</a:t>
            </a:r>
          </a:p>
          <a:p>
            <a:pPr algn="ctr"/>
            <a:r>
              <a:rPr sz="1350" b="0">
                <a:solidFill>
                  <a:srgbClr val="212121"/>
                </a:solidFill>
                <a:latin typeface="Calibri"/>
              </a:rPr>
              <a:t>recorder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090671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212121"/>
                </a:solidFill>
                <a:latin typeface="Calibri"/>
              </a:rPr>
              <a:t>Local trip store</a:t>
            </a:r>
          </a:p>
          <a:p>
            <a:pPr algn="ctr"/>
            <a:r>
              <a:rPr sz="1350" b="0">
                <a:solidFill>
                  <a:srgbClr val="212121"/>
                </a:solidFill>
                <a:latin typeface="Calibri"/>
              </a:rPr>
              <a:t>(offline-first)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4306823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212121"/>
                </a:solidFill>
                <a:latin typeface="Calibri"/>
              </a:rPr>
              <a:t>Dashboard and</a:t>
            </a:r>
          </a:p>
          <a:p>
            <a:pPr algn="ctr"/>
            <a:r>
              <a:rPr sz="1350" b="0">
                <a:solidFill>
                  <a:srgbClr val="212121"/>
                </a:solidFill>
                <a:latin typeface="Calibri"/>
              </a:rPr>
              <a:t>alerts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234440"/>
            <a:ext cx="25420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B5E20"/>
                </a:solidFill>
                <a:latin typeface="Calibri"/>
              </a:rPr>
              <a:t>3. CLOUD BACKEND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874519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212121"/>
                </a:solidFill>
                <a:latin typeface="Calibri"/>
              </a:rPr>
              <a:t>Emission estimation</a:t>
            </a:r>
          </a:p>
          <a:p>
            <a:pPr algn="ctr"/>
            <a:r>
              <a:rPr sz="1350" b="0">
                <a:solidFill>
                  <a:srgbClr val="212121"/>
                </a:solidFill>
                <a:latin typeface="Calibri"/>
              </a:rPr>
              <a:t>engine (BS6 / COPERT)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090671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212121"/>
                </a:solidFill>
                <a:latin typeface="Calibri"/>
              </a:rPr>
              <a:t>Anomaly detection</a:t>
            </a:r>
          </a:p>
          <a:p>
            <a:pPr algn="ctr"/>
            <a:r>
              <a:rPr sz="1350" b="0">
                <a:solidFill>
                  <a:srgbClr val="212121"/>
                </a:solidFill>
                <a:latin typeface="Calibri"/>
              </a:rPr>
              <a:t>(baseline drift)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4306823"/>
            <a:ext cx="25420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212121"/>
                </a:solidFill>
                <a:latin typeface="Calibri"/>
              </a:rPr>
              <a:t>Trip and vehicle</a:t>
            </a:r>
          </a:p>
          <a:p>
            <a:pPr algn="ctr"/>
            <a:r>
              <a:rPr sz="1350" b="0">
                <a:solidFill>
                  <a:srgbClr val="212121"/>
                </a:solidFill>
                <a:latin typeface="Calibri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1234440"/>
            <a:ext cx="25420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B5E20"/>
                </a:solidFill>
                <a:latin typeface="Calibri"/>
              </a:rPr>
              <a:t>4. OWNER INSIGHTS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1874519"/>
            <a:ext cx="2542032" cy="9601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212121"/>
                </a:solidFill>
                <a:latin typeface="Calibri"/>
              </a:rPr>
              <a:t>CO2 per trip and</a:t>
            </a:r>
          </a:p>
          <a:p>
            <a:pPr algn="ctr"/>
            <a:r>
              <a:rPr sz="1350" b="0">
                <a:solidFill>
                  <a:srgbClr val="212121"/>
                </a:solidFill>
                <a:latin typeface="Calibri"/>
              </a:rPr>
              <a:t>g/km 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3090671"/>
            <a:ext cx="2542032" cy="9601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212121"/>
                </a:solidFill>
                <a:latin typeface="Calibri"/>
              </a:rPr>
              <a:t>Abnormal-emission alert</a:t>
            </a:r>
          </a:p>
          <a:p>
            <a:pPr algn="ctr"/>
            <a:r>
              <a:rPr sz="1350" b="0">
                <a:solidFill>
                  <a:srgbClr val="212121"/>
                </a:solidFill>
                <a:latin typeface="Calibri"/>
              </a:rPr>
              <a:t>service reminder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4306823"/>
            <a:ext cx="2542032" cy="9601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212121"/>
                </a:solidFill>
                <a:latin typeface="Calibri"/>
              </a:rPr>
              <a:t>PUC failure risk</a:t>
            </a:r>
          </a:p>
          <a:p>
            <a:pPr algn="ctr"/>
            <a:r>
              <a:rPr sz="1350" b="0">
                <a:solidFill>
                  <a:srgbClr val="212121"/>
                </a:solidFill>
                <a:latin typeface="Calibri"/>
              </a:rPr>
              <a:t>prediction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83512" y="3570731.0"/>
            <a:ext cx="415488" cy="0.0"/>
          </a:xfrm>
          <a:prstGeom prst="line">
            <a:avLst/>
          </a:prstGeom>
          <a:ln w="28575">
            <a:solidFill>
              <a:srgbClr val="1B5E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01032" y="3570731.0"/>
            <a:ext cx="415488" cy="0.0"/>
          </a:xfrm>
          <a:prstGeom prst="line">
            <a:avLst/>
          </a:prstGeom>
          <a:ln w="28575">
            <a:solidFill>
              <a:srgbClr val="1B5E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18552" y="3570731.0"/>
            <a:ext cx="415488" cy="0.0"/>
          </a:xfrm>
          <a:prstGeom prst="line">
            <a:avLst/>
          </a:prstGeom>
          <a:ln w="28575">
            <a:solidFill>
              <a:srgbClr val="1B5E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" y="5806440"/>
            <a:ext cx="113687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616161"/>
                </a:solidFill>
                <a:latin typeface="Calibri"/>
              </a:rPr>
              <a:t>Flow: the car starting triggers the app  →  the phone records the drive  →  the backend converts driving data into emission estimates and checks them against the car's baseline  →  the owner sees records, trends and service alerts.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Existing Solutions and How Ours Is Different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234440"/>
          <a:ext cx="11365992" cy="4965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834640"/>
                <a:gridCol w="3108960"/>
                <a:gridCol w="30449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Existing solution</a:t>
                      </a:r>
                    </a:p>
                  </a:txBody>
                  <a:tcPr marL="82296" marR="82296" marT="45720" marB="45720" anchor="ctr">
                    <a:solidFill>
                      <a:srgbClr val="1B5E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82296" marR="82296" marT="45720" marB="45720" anchor="ctr">
                    <a:solidFill>
                      <a:srgbClr val="1B5E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Its limitation</a:t>
                      </a:r>
                    </a:p>
                  </a:txBody>
                  <a:tcPr marL="82296" marR="82296" marT="45720" marB="45720" anchor="ctr">
                    <a:solidFill>
                      <a:srgbClr val="1B5E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CarbonTrace</a:t>
                      </a:r>
                    </a:p>
                  </a:txBody>
                  <a:tcPr marL="82296" marR="82296" marT="45720" marB="45720" anchor="ctr">
                    <a:solidFill>
                      <a:srgbClr val="1B5E20"/>
                    </a:solidFill>
                  </a:tcPr>
                </a:tc>
              </a:tr>
              <a:tr h="11155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12121"/>
                          </a:solidFill>
                          <a:latin typeface="Calibri"/>
                        </a:rPr>
                        <a:t>PUC test centres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Certified tailpipe test once or twice a year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A snapshot only; faults pollute unnoticed for months between tests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5E20"/>
                          </a:solidFill>
                          <a:latin typeface="Calibri"/>
                        </a:rPr>
                        <a:t>Continuous monitoring every single trip; predicts PUC failure early</a:t>
                      </a:r>
                    </a:p>
                  </a:txBody>
                  <a:tcPr marL="82296" marR="82296" marT="45720" marB="45720" anchor="ctr">
                    <a:solidFill>
                      <a:srgbClr val="F1F8E9"/>
                    </a:solidFill>
                  </a:tcPr>
                </a:tc>
              </a:tr>
              <a:tr h="11155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12121"/>
                          </a:solidFill>
                          <a:latin typeface="Calibri"/>
                        </a:rPr>
                        <a:t>OBD-II apps (Torque, Carista)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Read live engine data from the diagnostics port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Need a hardware dongle plugged into the car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5E20"/>
                          </a:solidFill>
                          <a:latin typeface="Calibri"/>
                        </a:rPr>
                        <a:t>Zero hardware - works with just the phone the owner already has</a:t>
                      </a:r>
                    </a:p>
                  </a:txBody>
                  <a:tcPr marL="82296" marR="82296" marT="45720" marB="45720" anchor="ctr">
                    <a:solidFill>
                      <a:srgbClr val="F1F8E9"/>
                    </a:solidFill>
                  </a:tcPr>
                </a:tc>
              </a:tr>
              <a:tr h="11155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12121"/>
                          </a:solidFill>
                          <a:latin typeface="Calibri"/>
                        </a:rPr>
                        <a:t>Manufacturer apps (BlueLink, iConnect)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Connected-car stats for one brand's new models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Brand-locked, recent cars only, no emission analytics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5E20"/>
                          </a:solidFill>
                          <a:latin typeface="Calibri"/>
                        </a:rPr>
                        <a:t>Works across brands and car ages; emission-focused analytics</a:t>
                      </a:r>
                    </a:p>
                  </a:txBody>
                  <a:tcPr marL="82296" marR="82296" marT="45720" marB="45720" anchor="ctr">
                    <a:solidFill>
                      <a:srgbClr val="F1F8E9"/>
                    </a:solidFill>
                  </a:tcPr>
                </a:tc>
              </a:tr>
              <a:tr h="11155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12121"/>
                          </a:solidFill>
                          <a:latin typeface="Calibri"/>
                        </a:rPr>
                        <a:t>Fuel log apps (Fuelio, Drivvo)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Track mileage from manual fuel entries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Manual entry, no emissions, no fault detection</a:t>
                      </a:r>
                    </a:p>
                  </a:txBody>
                  <a:tcPr marL="82296" marR="8229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5E20"/>
                          </a:solidFill>
                          <a:latin typeface="Calibri"/>
                        </a:rPr>
                        <a:t>Fully automatic trip capture with CO2 estimates and anomaly alerts</a:t>
                      </a:r>
                    </a:p>
                  </a:txBody>
                  <a:tcPr marL="82296" marR="82296" marT="45720" marB="45720" anchor="ctr">
                    <a:solidFill>
                      <a:srgbClr val="F1F8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Features We Offer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>
                <a:solidFill>
                  <a:srgbClr val="43A047"/>
                </a:solidFill>
                <a:latin typeface="Calibri"/>
              </a:rPr>
              <a:t>▸ </a:t>
            </a:r>
            <a:r>
              <a:rPr sz="1600" b="1">
                <a:solidFill>
                  <a:srgbClr val="212121"/>
                </a:solidFill>
                <a:latin typeface="Calibri"/>
              </a:rPr>
              <a:t>Auto-start with the car</a:t>
            </a:r>
            <a:r>
              <a:rPr sz="1600">
                <a:solidFill>
                  <a:srgbClr val="212121"/>
                </a:solidFill>
                <a:latin typeface="Calibri"/>
              </a:rPr>
              <a:t> — app wakes on car Bluetooth connection or driving motion and records the trip hands-free.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>
                <a:solidFill>
                  <a:srgbClr val="43A047"/>
                </a:solidFill>
                <a:latin typeface="Calibri"/>
              </a:rPr>
              <a:t>▸ </a:t>
            </a:r>
            <a:r>
              <a:rPr sz="1600" b="1">
                <a:solidFill>
                  <a:srgbClr val="212121"/>
                </a:solidFill>
                <a:latin typeface="Calibri"/>
              </a:rPr>
              <a:t>Continuous CO2 records</a:t>
            </a:r>
            <a:r>
              <a:rPr sz="1600">
                <a:solidFill>
                  <a:srgbClr val="212121"/>
                </a:solidFill>
                <a:latin typeface="Calibri"/>
              </a:rPr>
              <a:t> — every trip logged with estimated CO2, distance and g/km - stored offline first, synced to the cloud.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>
                <a:solidFill>
                  <a:srgbClr val="43A047"/>
                </a:solidFill>
                <a:latin typeface="Calibri"/>
              </a:rPr>
              <a:t>▸ </a:t>
            </a:r>
            <a:r>
              <a:rPr sz="1600" b="1">
                <a:solidFill>
                  <a:srgbClr val="212121"/>
                </a:solidFill>
                <a:latin typeface="Calibri"/>
              </a:rPr>
              <a:t>Emission trends</a:t>
            </a:r>
            <a:r>
              <a:rPr sz="1600">
                <a:solidFill>
                  <a:srgbClr val="212121"/>
                </a:solidFill>
                <a:latin typeface="Calibri"/>
              </a:rPr>
              <a:t> — daily, weekly and monthly CO2 totals with the car's g/km curve over time.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>
                <a:solidFill>
                  <a:srgbClr val="43A047"/>
                </a:solidFill>
                <a:latin typeface="Calibri"/>
              </a:rPr>
              <a:t>▸ </a:t>
            </a:r>
            <a:r>
              <a:rPr sz="1600" b="1">
                <a:solidFill>
                  <a:srgbClr val="212121"/>
                </a:solidFill>
                <a:latin typeface="Calibri"/>
              </a:rPr>
              <a:t>Abnormal-emission alerts</a:t>
            </a:r>
            <a:r>
              <a:rPr sz="1600">
                <a:solidFill>
                  <a:srgbClr val="212121"/>
                </a:solidFill>
                <a:latin typeface="Calibri"/>
              </a:rPr>
              <a:t> — drift above the car's own baseline triggers a 'service recommended' notification with the estimated rise.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32588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>
                <a:solidFill>
                  <a:srgbClr val="43A047"/>
                </a:solidFill>
                <a:latin typeface="Calibri"/>
              </a:rPr>
              <a:t>▸ </a:t>
            </a:r>
            <a:r>
              <a:rPr sz="1600" b="1">
                <a:solidFill>
                  <a:srgbClr val="212121"/>
                </a:solidFill>
                <a:latin typeface="Calibri"/>
              </a:rPr>
              <a:t>PUC failure prediction</a:t>
            </a:r>
            <a:r>
              <a:rPr sz="1600">
                <a:solidFill>
                  <a:srgbClr val="212121"/>
                </a:solidFill>
                <a:latin typeface="Calibri"/>
              </a:rPr>
              <a:t> — 'know before you fail' - a risk score for the next emission test so servicing happens first.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>
                <a:solidFill>
                  <a:srgbClr val="43A047"/>
                </a:solidFill>
                <a:latin typeface="Calibri"/>
              </a:rPr>
              <a:t>▸ </a:t>
            </a:r>
            <a:r>
              <a:rPr sz="1600" b="1">
                <a:solidFill>
                  <a:srgbClr val="212121"/>
                </a:solidFill>
                <a:latin typeface="Calibri"/>
              </a:rPr>
              <a:t>Driving-style insights</a:t>
            </a:r>
            <a:r>
              <a:rPr sz="1600">
                <a:solidFill>
                  <a:srgbClr val="212121"/>
                </a:solidFill>
                <a:latin typeface="Calibri"/>
              </a:rPr>
              <a:t> — idling, harsh acceleration and speed patterns that raise emissions, with tips to cut them.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>
                <a:solidFill>
                  <a:srgbClr val="43A047"/>
                </a:solidFill>
                <a:latin typeface="Calibri"/>
              </a:rPr>
              <a:t>▸ </a:t>
            </a:r>
            <a:r>
              <a:rPr sz="1600" b="1">
                <a:solidFill>
                  <a:srgbClr val="212121"/>
                </a:solidFill>
                <a:latin typeface="Calibri"/>
              </a:rPr>
              <a:t>Works on any car</a:t>
            </a:r>
            <a:r>
              <a:rPr sz="1600">
                <a:solidFill>
                  <a:srgbClr val="212121"/>
                </a:solidFill>
                <a:latin typeface="Calibri"/>
              </a:rPr>
              <a:t> — no hardware and no brand lock-in; optional connected-car link sharpens accuracy on newer cars.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>
                <a:solidFill>
                  <a:srgbClr val="43A047"/>
                </a:solidFill>
                <a:latin typeface="Calibri"/>
              </a:rPr>
              <a:t>▸ </a:t>
            </a:r>
            <a:r>
              <a:rPr sz="1600" b="1">
                <a:solidFill>
                  <a:srgbClr val="212121"/>
                </a:solidFill>
                <a:latin typeface="Calibri"/>
              </a:rPr>
              <a:t>Fleet view for MSMEs</a:t>
            </a:r>
            <a:r>
              <a:rPr sz="1600">
                <a:solidFill>
                  <a:srgbClr val="212121"/>
                </a:solidFill>
                <a:latin typeface="Calibri"/>
              </a:rPr>
              <a:t> — small businesses see emissions and service alerts across all their vehicles in one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Feasibility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3703320" cy="502920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9304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Technical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828800"/>
            <a:ext cx="3703320" cy="448056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011680"/>
            <a:ext cx="337413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43A047"/>
                </a:solidFill>
                <a:latin typeface="Calibri"/>
              </a:rPr>
              <a:t>▸ </a:t>
            </a:r>
            <a:r>
              <a:rPr sz="1350" b="1">
                <a:solidFill>
                  <a:srgbClr val="212121"/>
                </a:solidFill>
                <a:latin typeface="Calibri"/>
              </a:rPr>
              <a:t>Built on proven, public building blocks: Bluetooth and activity-recognition triggers, phone GPS, and standard emission models (BS6 norms, COPERT / EPA factors).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43A047"/>
                </a:solidFill>
                <a:latin typeface="Calibri"/>
              </a:rPr>
              <a:t>▸ </a:t>
            </a:r>
            <a:r>
              <a:rPr sz="1350" b="1">
                <a:solidFill>
                  <a:srgbClr val="212121"/>
                </a:solidFill>
                <a:latin typeface="Calibri"/>
              </a:rPr>
              <a:t>Stack: Flutter app (Android-first), FastAPI backend, cloud database - all free, mature tools.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43A047"/>
                </a:solidFill>
                <a:latin typeface="Calibri"/>
              </a:rPr>
              <a:t>▸ </a:t>
            </a:r>
            <a:r>
              <a:rPr sz="1350" b="1">
                <a:solidFill>
                  <a:srgbClr val="212121"/>
                </a:solidFill>
                <a:latin typeface="Calibri"/>
              </a:rPr>
              <a:t>Accuracy: estimates, not certified readings - but trend and drift detection is reliable because every car is compared with its own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34440"/>
            <a:ext cx="3703320" cy="502920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289304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Economic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828800"/>
            <a:ext cx="3703320" cy="448056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2011680"/>
            <a:ext cx="337413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43A047"/>
                </a:solidFill>
                <a:latin typeface="Calibri"/>
              </a:rPr>
              <a:t>▸ </a:t>
            </a:r>
            <a:r>
              <a:rPr sz="1350" b="1">
                <a:solidFill>
                  <a:srgbClr val="212121"/>
                </a:solidFill>
                <a:latin typeface="Calibri"/>
              </a:rPr>
              <a:t>Zero hardware means near-zero marginal cost per user; the entire MVP can be built on free tiers.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43A047"/>
                </a:solidFill>
                <a:latin typeface="Calibri"/>
              </a:rPr>
              <a:t>▸ </a:t>
            </a:r>
            <a:r>
              <a:rPr sz="1350" b="1">
                <a:solidFill>
                  <a:srgbClr val="212121"/>
                </a:solidFill>
                <a:latin typeface="Calibri"/>
              </a:rPr>
              <a:t>Freemium model: personal use free; premium analytics and MSME fleet dashboards subscription-based.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43A047"/>
                </a:solidFill>
                <a:latin typeface="Calibri"/>
              </a:rPr>
              <a:t>▸ </a:t>
            </a:r>
            <a:r>
              <a:rPr sz="1350" b="1">
                <a:solidFill>
                  <a:srgbClr val="212121"/>
                </a:solidFill>
                <a:latin typeface="Calibri"/>
              </a:rPr>
              <a:t>No inventory, logistics or servicing costs - pure software scaling.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703320" cy="502920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289304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Market &amp; operational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28800"/>
            <a:ext cx="3703320" cy="448056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2011680"/>
            <a:ext cx="337413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43A047"/>
                </a:solidFill>
                <a:latin typeface="Calibri"/>
              </a:rPr>
              <a:t>▸ </a:t>
            </a:r>
            <a:r>
              <a:rPr sz="1350" b="1">
                <a:solidFill>
                  <a:srgbClr val="212121"/>
                </a:solidFill>
                <a:latin typeface="Calibri"/>
              </a:rPr>
              <a:t>India has 30+ crore registered vehicles and PUC certification is legally mandatory - awareness of emissions is universal.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43A047"/>
                </a:solidFill>
                <a:latin typeface="Calibri"/>
              </a:rPr>
              <a:t>▸ </a:t>
            </a:r>
            <a:r>
              <a:rPr sz="1350" b="1">
                <a:solidFill>
                  <a:srgbClr val="212121"/>
                </a:solidFill>
                <a:latin typeface="Calibri"/>
              </a:rPr>
              <a:t>Onboarding takes minutes: install, pick your car model, pair Bluetooth once.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43A047"/>
                </a:solidFill>
                <a:latin typeface="Calibri"/>
              </a:rPr>
              <a:t>▸ </a:t>
            </a:r>
            <a:r>
              <a:rPr sz="1350" b="1">
                <a:solidFill>
                  <a:srgbClr val="212121"/>
                </a:solidFill>
                <a:latin typeface="Calibri"/>
              </a:rPr>
              <a:t>MVP is buildable by a small student team within the hackathon timeline.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UN Sustainable Development Goals We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1234440" cy="932688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08176"/>
            <a:ext cx="1234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SDG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207008"/>
            <a:ext cx="3108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5E20"/>
                </a:solidFill>
                <a:latin typeface="Calibri"/>
              </a:rPr>
              <a:t>Good Health &amp; Well-Being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207008"/>
            <a:ext cx="6766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212121"/>
                </a:solidFill>
                <a:latin typeface="Calibri"/>
              </a:rPr>
              <a:t>Vehicle exhaust is a major source of urban air pollution; fixing high-emitting engines earlier directly cuts the pollutants people breathe.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267712"/>
            <a:ext cx="1234440" cy="932688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487168"/>
            <a:ext cx="1234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SDG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86000"/>
            <a:ext cx="3108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5E20"/>
                </a:solidFill>
                <a:latin typeface="Calibri"/>
              </a:rPr>
              <a:t>Industry, Innovation &amp;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286000"/>
            <a:ext cx="6766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212121"/>
                </a:solidFill>
                <a:latin typeface="Calibri"/>
              </a:rPr>
              <a:t>A software-only innovation that upgrades emission monitoring without any new physical infrastructure or hardware manufacturing.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346704"/>
            <a:ext cx="1234440" cy="932688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566160"/>
            <a:ext cx="1234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SDG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364992"/>
            <a:ext cx="3108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5E20"/>
                </a:solidFill>
                <a:latin typeface="Calibri"/>
              </a:rPr>
              <a:t>Sustainable Cities &amp; Communities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364992"/>
            <a:ext cx="6766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212121"/>
                </a:solidFill>
                <a:latin typeface="Calibri"/>
              </a:rPr>
              <a:t>Cleaner running vehicles and fewer failed emission tests mean healthier, more sustainable city air.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425696"/>
            <a:ext cx="1234440" cy="932688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645152"/>
            <a:ext cx="1234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SDG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443984"/>
            <a:ext cx="3108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5E20"/>
                </a:solidFill>
                <a:latin typeface="Calibri"/>
              </a:rPr>
              <a:t>Responsible Consumption &amp;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443984"/>
            <a:ext cx="6766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212121"/>
                </a:solidFill>
                <a:latin typeface="Calibri"/>
              </a:rPr>
              <a:t>Emission and driving-style feedback nudges owners toward efficient driving and timely maintenance, reducing fuel waste.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504688"/>
            <a:ext cx="1234440" cy="932688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724144"/>
            <a:ext cx="1234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SDG 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522976"/>
            <a:ext cx="3108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5E20"/>
                </a:solidFill>
                <a:latin typeface="Calibri"/>
              </a:rPr>
              <a:t>Climate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522976"/>
            <a:ext cx="6766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212121"/>
                </a:solidFill>
                <a:latin typeface="Calibri"/>
              </a:rPr>
              <a:t>Continuous CO2 tracking makes every owner's carbon footprint visible and actionable - small per-car savings multiplied across millions of vehicles.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8585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Budget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88720"/>
          <a:ext cx="11365992" cy="428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965960"/>
                <a:gridCol w="1965960"/>
                <a:gridCol w="4416552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27432" marB="27432" anchor="ctr">
                    <a:solidFill>
                      <a:srgbClr val="1B5E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MVP / Hackathon</a:t>
                      </a:r>
                    </a:p>
                  </a:txBody>
                  <a:tcPr marL="73152" marR="73152" marT="27432" marB="27432" anchor="ctr">
                    <a:solidFill>
                      <a:srgbClr val="1B5E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Pilot (Year 1)</a:t>
                      </a:r>
                    </a:p>
                  </a:txBody>
                  <a:tcPr marL="73152" marR="73152" marT="27432" marB="27432" anchor="ctr">
                    <a:solidFill>
                      <a:srgbClr val="1B5E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73152" marR="73152" marT="27432" marB="27432" anchor="ctr">
                    <a:solidFill>
                      <a:srgbClr val="1B5E20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App &amp; backend development</a:t>
                      </a:r>
                    </a:p>
                  </a:txBody>
                  <a:tcPr marL="73152" marR="73152" marT="27432" marB="27432" anchor="ctr">
                    <a:solidFill>
                      <a:srgbClr val="F1F8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₹0 (in-house)</a:t>
                      </a:r>
                    </a:p>
                  </a:txBody>
                  <a:tcPr marL="73152" marR="73152" marT="27432" marB="27432" anchor="ctr">
                    <a:solidFill>
                      <a:srgbClr val="F1F8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₹0 (in-house)</a:t>
                      </a:r>
                    </a:p>
                  </a:txBody>
                  <a:tcPr marL="73152" marR="73152" marT="27432" marB="27432" anchor="ctr">
                    <a:solidFill>
                      <a:srgbClr val="F1F8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Built by the team on free, open-source tools (Flutter, FastAPI, PostgreSQL)</a:t>
                      </a:r>
                    </a:p>
                  </a:txBody>
                  <a:tcPr marL="73152" marR="73152" marT="27432" marB="27432" anchor="ctr">
                    <a:solidFill>
                      <a:srgbClr val="F1F8E9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Cloud hosting &amp; database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₹0 (free tier)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₹18,000 - 30,000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Free tiers cover the demo; ~₹1,500-2,500/month once pilot users join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Google Play developer account</a:t>
                      </a:r>
                    </a:p>
                  </a:txBody>
                  <a:tcPr marL="73152" marR="73152" marT="27432" marB="27432" anchor="ctr">
                    <a:solidFill>
                      <a:srgbClr val="F1F8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₹2,100</a:t>
                      </a:r>
                    </a:p>
                  </a:txBody>
                  <a:tcPr marL="73152" marR="73152" marT="27432" marB="27432" anchor="ctr">
                    <a:solidFill>
                      <a:srgbClr val="F1F8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1F8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One-time fee (~USD 25) to publish the Android app</a:t>
                      </a:r>
                    </a:p>
                  </a:txBody>
                  <a:tcPr marL="73152" marR="73152" marT="27432" marB="27432" anchor="ctr">
                    <a:solidFill>
                      <a:srgbClr val="F1F8E9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Apple App Store (optional, later)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₹8,500 / year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Only when the iOS version ships (~USD 99/year)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Domain, SSL &amp; email</a:t>
                      </a:r>
                    </a:p>
                  </a:txBody>
                  <a:tcPr marL="73152" marR="73152" marT="27432" marB="27432" anchor="ctr">
                    <a:solidFill>
                      <a:srgbClr val="F1F8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₹1,000</a:t>
                      </a:r>
                    </a:p>
                  </a:txBody>
                  <a:tcPr marL="73152" marR="73152" marT="27432" marB="27432" anchor="ctr">
                    <a:solidFill>
                      <a:srgbClr val="F1F8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₹1,500 / year</a:t>
                      </a:r>
                    </a:p>
                  </a:txBody>
                  <a:tcPr marL="73152" marR="73152" marT="27432" marB="27432" anchor="ctr">
                    <a:solidFill>
                      <a:srgbClr val="F1F8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Project website and support email</a:t>
                      </a:r>
                    </a:p>
                  </a:txBody>
                  <a:tcPr marL="73152" marR="73152" marT="27432" marB="27432" anchor="ctr">
                    <a:solidFill>
                      <a:srgbClr val="F1F8E9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Emission-factor data &amp; APIs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₹0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₹0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BS6 / COPERT / EPA emission factors are published; maps, push notifications and connected-car dev tiers are free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Pilot outreach &amp; testing</a:t>
                      </a:r>
                    </a:p>
                  </a:txBody>
                  <a:tcPr marL="73152" marR="73152" marT="27432" marB="27432" anchor="ctr">
                    <a:solidFill>
                      <a:srgbClr val="F1F8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₹2,000</a:t>
                      </a:r>
                    </a:p>
                  </a:txBody>
                  <a:tcPr marL="73152" marR="73152" marT="27432" marB="27432" anchor="ctr">
                    <a:solidFill>
                      <a:srgbClr val="F1F8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₹10,000 - 15,000</a:t>
                      </a:r>
                    </a:p>
                  </a:txBody>
                  <a:tcPr marL="73152" marR="73152" marT="27432" marB="27432" anchor="ctr">
                    <a:solidFill>
                      <a:srgbClr val="F1F8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Posters, fuel reimbursement for test drives, feedback incentives</a:t>
                      </a:r>
                    </a:p>
                  </a:txBody>
                  <a:tcPr marL="73152" marR="73152" marT="27432" marB="27432" anchor="ctr">
                    <a:solidFill>
                      <a:srgbClr val="F1F8E9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Contingency (~15%)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₹1,000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₹8,000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Buffer for overruns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715000"/>
            <a:ext cx="5486400" cy="77724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769864"/>
            <a:ext cx="5212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Total MVP cost: ~₹6,000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Total Year-1 pilot: ~₹50,000 - 65,000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5715000"/>
            <a:ext cx="5605272" cy="77724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5769864"/>
            <a:ext cx="5303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B5E20"/>
                </a:solidFill>
                <a:latin typeface="Calibri"/>
              </a:rPr>
              <a:t>Because there is no hardware, there is no per-unit cost - every rupee goes into software that scales to any number of cars.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