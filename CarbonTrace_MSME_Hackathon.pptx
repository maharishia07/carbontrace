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4" r:id="rId15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Calibri"/>
              </a:rPr>
              <a:t>CarbonTrace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>
                <a:solidFill>
                  <a:srgbClr val="F1F8E9"/>
                </a:solidFill>
                <a:latin typeface="Calibri"/>
              </a:rPr>
              <a:t>A Fully Software-Based Carbon Emission Monitor for Cars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9A825"/>
                </a:solidFill>
                <a:latin typeface="Calibri"/>
              </a:rPr>
              <a:t>Know your car's emissions. Service it before it pollutes.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F1F8E9"/>
                </a:solidFill>
                <a:latin typeface="Calibri"/>
              </a:rPr>
              <a:t>MSME Hackathon 2026</a:t>
            </a:r>
          </a:p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F1F8E9"/>
                </a:solidFill>
                <a:latin typeface="Calibri"/>
              </a:rPr>
              <a:t>Team: &lt;Your Name&gt;   |   Mentor: &lt;Mentor Name&gt;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Brief Explanation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B5E20"/>
                </a:solidFill>
                <a:latin typeface="Calibri"/>
              </a:rPr>
              <a:t>A mobile app that estimates and continuously tracks a car's carbon emissions using only software — no sensors, no OBD dongles, no hardware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0280"/>
            <a:ext cx="111858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43A047"/>
                </a:solidFill>
                <a:latin typeface="Calibri"/>
              </a:rPr>
              <a:t>▸ </a:t>
            </a:r>
            <a:r>
              <a:rPr sz="1800" b="1">
                <a:solidFill>
                  <a:srgbClr val="212121"/>
                </a:solidFill>
                <a:latin typeface="Calibri"/>
              </a:rPr>
              <a:t>The problem</a:t>
            </a:r>
            <a:r>
              <a:rPr sz="1800">
                <a:solidFill>
                  <a:srgbClr val="212121"/>
                </a:solidFill>
                <a:latin typeface="Calibri"/>
              </a:rPr>
              <a:t> — car owners have no visibility into their vehicle's emissions between annual PUC tests; a degrading engine silently pollutes for months and then fails the test.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43A047"/>
                </a:solidFill>
                <a:latin typeface="Calibri"/>
              </a:rPr>
              <a:t>▸ </a:t>
            </a:r>
            <a:r>
              <a:rPr sz="1800" b="1">
                <a:solidFill>
                  <a:srgbClr val="212121"/>
                </a:solidFill>
                <a:latin typeface="Calibri"/>
              </a:rPr>
              <a:t>Our approach</a:t>
            </a:r>
            <a:r>
              <a:rPr sz="1800">
                <a:solidFill>
                  <a:srgbClr val="212121"/>
                </a:solidFill>
                <a:latin typeface="Calibri"/>
              </a:rPr>
              <a:t> — the app auto-starts when the car starts (Bluetooth / motion detection), records every trip with phone GPS, and runs the drive data through standard emission models (BS6 / COPERT factors) to estimate CO2 per trip and per km.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43A047"/>
                </a:solidFill>
                <a:latin typeface="Calibri"/>
              </a:rPr>
              <a:t>▸ </a:t>
            </a:r>
            <a:r>
              <a:rPr sz="1800" b="1">
                <a:solidFill>
                  <a:srgbClr val="212121"/>
                </a:solidFill>
                <a:latin typeface="Calibri"/>
              </a:rPr>
              <a:t>Early warning</a:t>
            </a:r>
            <a:r>
              <a:rPr sz="1800">
                <a:solidFill>
                  <a:srgbClr val="212121"/>
                </a:solidFill>
                <a:latin typeface="Calibri"/>
              </a:rPr>
              <a:t> — every car gets a personal emission baseline; when recent trips drift above it, the owner is alerted to service the vehicle before emissions worsen or a PUC test is failed.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43A047"/>
                </a:solidFill>
                <a:latin typeface="Calibri"/>
              </a:rPr>
              <a:t>▸ </a:t>
            </a:r>
            <a:r>
              <a:rPr sz="1800" b="1">
                <a:solidFill>
                  <a:srgbClr val="212121"/>
                </a:solidFill>
                <a:latin typeface="Calibri"/>
              </a:rPr>
              <a:t>Why it matters</a:t>
            </a:r>
            <a:r>
              <a:rPr sz="1800">
                <a:solidFill>
                  <a:srgbClr val="212121"/>
                </a:solidFill>
                <a:latin typeface="Calibri"/>
              </a:rPr>
              <a:t> — continuous, zero-cost emission awareness for every car owner — and cleaner air, since faults are fixed months earlier than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Architecture — Fuel-Anchored, Three Data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2542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B5E20"/>
                </a:solidFill>
                <a:latin typeface="Calibri"/>
              </a:rPr>
              <a:t>1. DATA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27632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Car Bluetooth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(auto-start trigger)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596896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Phone GPS + motion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(drive profile)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566160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Payment notifications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(litres, on-device)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4535424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Connected-car cloud /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OBD ECU 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115568"/>
            <a:ext cx="2542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B5E20"/>
                </a:solidFill>
                <a:latin typeface="Calibri"/>
              </a:rPr>
              <a:t>2. MOBILE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27632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Auto trip recorder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(zero-touch)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96896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Virtual odometer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(auto-advancing)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566160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Auto fill-up capture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(refuel stop + payment)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4535424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Offline-first store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and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115568"/>
            <a:ext cx="2542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B5E20"/>
                </a:solidFill>
                <a:latin typeface="Calibri"/>
              </a:rPr>
              <a:t>3. CLOUD BACKEND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627632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Emission engine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(COPERT/BS6 + fuel chemistry)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2596896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Calibration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(measured / modelled)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566160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Baseline per driving type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(city / mixed / highway)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535424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EWMA drift detection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(alerts, PUC risk)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115568"/>
            <a:ext cx="2542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B5E20"/>
                </a:solidFill>
                <a:latin typeface="Calibri"/>
              </a:rPr>
              <a:t>4. OWNER INSIGHTS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1627632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Trip CO2 records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and g/km trends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2596896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Measured fuel economy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(tank-to-tank)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3566160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Service alert and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recovery verification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535424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PUC failure risk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and fleet reports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78512" y="3483864.0"/>
            <a:ext cx="425488" cy="0.0"/>
          </a:xfrm>
          <a:prstGeom prst="line">
            <a:avLst/>
          </a:prstGeom>
          <a:ln w="28575">
            <a:solidFill>
              <a:srgbClr val="1B5E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996032" y="3483864.0"/>
            <a:ext cx="425488" cy="0.0"/>
          </a:xfrm>
          <a:prstGeom prst="line">
            <a:avLst/>
          </a:prstGeom>
          <a:ln w="28575">
            <a:solidFill>
              <a:srgbClr val="1B5E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13552" y="3483864.0"/>
            <a:ext cx="425488" cy="0.0"/>
          </a:xfrm>
          <a:prstGeom prst="line">
            <a:avLst/>
          </a:prstGeom>
          <a:ln w="28575">
            <a:solidFill>
              <a:srgbClr val="1B5E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11480" y="5897880"/>
            <a:ext cx="1136873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>
                <a:solidFill>
                  <a:srgbClr val="616161"/>
                </a:solidFill>
                <a:latin typeface="Calibri"/>
              </a:rPr>
              <a:t>Every figure is anchored to measured fuel: litres from payments / the car itself → CO2 by fixed combustion chemistry (1 L petrol = 2.31 kg CO2) → the driving model only interpolates between measurements and is continuously calibrated against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Data Captures Itself — No Typing, No Habit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34440"/>
          <a:ext cx="1136599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926080"/>
                <a:gridCol w="3291840"/>
                <a:gridCol w="249631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Odometer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Fuel (litres)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Hardware needed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B5E20"/>
                          </a:solidFill>
                          <a:latin typeface="Calibri"/>
                        </a:rPr>
                        <a:t>Zero-hardware</a:t>
                      </a:r>
                    </a:p>
                    <a:p>
                      <a:r>
                        <a:rPr sz="1250" b="0">
                          <a:solidFill>
                            <a:srgbClr val="1B5E20"/>
                          </a:solidFill>
                          <a:latin typeface="Calibri"/>
                        </a:rPr>
                        <a:t>(every car on the road)</a:t>
                      </a:r>
                    </a:p>
                  </a:txBody>
                  <a:tcPr marL="82296" marR="82296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Virtual odometer: set once,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GPS advances it every trip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Payment notifications (UPI/card)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auto-convert to litres on-device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B5E20"/>
                          </a:solidFill>
                          <a:latin typeface="Calibri"/>
                        </a:rPr>
                        <a:t>Connected car</a:t>
                      </a:r>
                    </a:p>
                    <a:p>
                      <a:r>
                        <a:rPr sz="1250" b="0">
                          <a:solidFill>
                            <a:srgbClr val="1B5E20"/>
                          </a:solidFill>
                          <a:latin typeface="Calibri"/>
                        </a:rPr>
                        <a:t>(BlueLink, iRA, iSmart...)</a:t>
                      </a:r>
                    </a:p>
                  </a:txBody>
                  <a:tcPr marL="82296" marR="82296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Exact reading from the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manufacturer cloud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Fuel-level changes reported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by the car's built-in telematics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None extra - factory TCU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already in the car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B5E20"/>
                          </a:solidFill>
                          <a:latin typeface="Calibri"/>
                        </a:rPr>
                        <a:t>OBD pro tier</a:t>
                      </a:r>
                    </a:p>
                    <a:p>
                      <a:r>
                        <a:rPr sz="1250" b="0">
                          <a:solidFill>
                            <a:srgbClr val="1B5E20"/>
                          </a:solidFill>
                          <a:latin typeface="Calibri"/>
                        </a:rPr>
                        <a:t>(optional)</a:t>
                      </a:r>
                    </a:p>
                  </a:txBody>
                  <a:tcPr marL="82296" marR="82296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True ECU odometer (PID A6),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auto-corrects GPS drift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Live fuel flow measured from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the engine's airflow sensor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₹500 ELM327 adapter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in the OBD port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486400"/>
            <a:ext cx="11368735" cy="91440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96128"/>
            <a:ext cx="1091153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1B5E20"/>
                </a:solidFill>
                <a:latin typeface="Calibri"/>
              </a:rPr>
              <a:t>Trips record themselves (car Bluetooth) · odometer tracks itself · fill-ups log themselves from payment alerts · refuel stops are auto-detected from GPS. The only manual case left: paying cash at the pump.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Existing Solutions and How Ours Is Different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34440"/>
          <a:ext cx="11365992" cy="4965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108960"/>
                <a:gridCol w="30449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Existing solution</a:t>
                      </a:r>
                    </a:p>
                  </a:txBody>
                  <a:tcPr marL="82296" marR="82296" marT="45720" marB="45720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82296" marT="45720" marB="45720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Its limitation</a:t>
                      </a:r>
                    </a:p>
                  </a:txBody>
                  <a:tcPr marL="82296" marR="82296" marT="45720" marB="45720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CarbonTrace</a:t>
                      </a:r>
                    </a:p>
                  </a:txBody>
                  <a:tcPr marL="82296" marR="82296" marT="45720" marB="45720" anchor="ctr">
                    <a:solidFill>
                      <a:srgbClr val="1B5E20"/>
                    </a:solidFill>
                  </a:tcPr>
                </a:tc>
              </a:tr>
              <a:tr h="11155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PUC test centres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Certified tailpipe test once or twice a year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A snapshot only; faults pollute unnoticed for months between tests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5E20"/>
                          </a:solidFill>
                          <a:latin typeface="Calibri"/>
                        </a:rPr>
                        <a:t>Continuous monitoring every single trip; predicts PUC failure early</a:t>
                      </a:r>
                    </a:p>
                  </a:txBody>
                  <a:tcPr marL="82296" marR="82296" marT="45720" marB="45720" anchor="ctr">
                    <a:solidFill>
                      <a:srgbClr val="F1F8E9"/>
                    </a:solidFill>
                  </a:tcPr>
                </a:tc>
              </a:tr>
              <a:tr h="11155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OBD-II apps (Torque, Carista)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Read live engine data from the diagnostics port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Need a hardware dongle plugged into the car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5E20"/>
                          </a:solidFill>
                          <a:latin typeface="Calibri"/>
                        </a:rPr>
                        <a:t>Zero hardware - works with just the phone the owner already has</a:t>
                      </a:r>
                    </a:p>
                  </a:txBody>
                  <a:tcPr marL="82296" marR="82296" marT="45720" marB="45720" anchor="ctr">
                    <a:solidFill>
                      <a:srgbClr val="F1F8E9"/>
                    </a:solidFill>
                  </a:tcPr>
                </a:tc>
              </a:tr>
              <a:tr h="11155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Manufacturer apps (BlueLink, iConnect)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Connected-car stats for one brand's new models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Brand-locked, recent cars only, no emission analytics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5E20"/>
                          </a:solidFill>
                          <a:latin typeface="Calibri"/>
                        </a:rPr>
                        <a:t>Works across brands and car ages; emission-focused analytics</a:t>
                      </a:r>
                    </a:p>
                  </a:txBody>
                  <a:tcPr marL="82296" marR="82296" marT="45720" marB="45720" anchor="ctr">
                    <a:solidFill>
                      <a:srgbClr val="F1F8E9"/>
                    </a:solidFill>
                  </a:tcPr>
                </a:tc>
              </a:tr>
              <a:tr h="11155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Fuel log apps (Fuelio, Drivvo)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Track mileage from manual fuel entries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Manual entry, no emissions, no fault detection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5E20"/>
                          </a:solidFill>
                          <a:latin typeface="Calibri"/>
                        </a:rPr>
                        <a:t>Fully automatic trip capture with CO2 estimates and anomaly alerts</a:t>
                      </a:r>
                    </a:p>
                  </a:txBody>
                  <a:tcPr marL="82296" marR="82296" marT="45720" marB="45720" anchor="ctr">
                    <a:solidFill>
                      <a:srgbClr val="F1F8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Features We Offer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Auto-start with the car</a:t>
            </a:r>
            <a:r>
              <a:rPr sz="1600">
                <a:solidFill>
                  <a:srgbClr val="212121"/>
                </a:solidFill>
                <a:latin typeface="Calibri"/>
              </a:rPr>
              <a:t> — app wakes on car Bluetooth connection or driving motion and records the trip hands-free.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Continuous CO2 records</a:t>
            </a:r>
            <a:r>
              <a:rPr sz="1600">
                <a:solidFill>
                  <a:srgbClr val="212121"/>
                </a:solidFill>
                <a:latin typeface="Calibri"/>
              </a:rPr>
              <a:t> — every trip logged with estimated CO2, distance and g/km - stored offline first, synced to the cloud.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Emission trends</a:t>
            </a:r>
            <a:r>
              <a:rPr sz="1600">
                <a:solidFill>
                  <a:srgbClr val="212121"/>
                </a:solidFill>
                <a:latin typeface="Calibri"/>
              </a:rPr>
              <a:t> — daily, weekly and monthly CO2 totals with the car's g/km curve over time.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Abnormal-emission alerts</a:t>
            </a:r>
            <a:r>
              <a:rPr sz="1600">
                <a:solidFill>
                  <a:srgbClr val="212121"/>
                </a:solidFill>
                <a:latin typeface="Calibri"/>
              </a:rPr>
              <a:t> — drift above the car's own baseline triggers a 'service recommended' notification with the estimated rise.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PUC failure prediction</a:t>
            </a:r>
            <a:r>
              <a:rPr sz="1600">
                <a:solidFill>
                  <a:srgbClr val="212121"/>
                </a:solidFill>
                <a:latin typeface="Calibri"/>
              </a:rPr>
              <a:t> — 'know before you fail' - a risk score for the next emission test so servicing happens first.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Driving-style insights</a:t>
            </a:r>
            <a:r>
              <a:rPr sz="1600">
                <a:solidFill>
                  <a:srgbClr val="212121"/>
                </a:solidFill>
                <a:latin typeface="Calibri"/>
              </a:rPr>
              <a:t> — idling, harsh acceleration and speed patterns that raise emissions, with tips to cut them.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Works on any car</a:t>
            </a:r>
            <a:r>
              <a:rPr sz="1600">
                <a:solidFill>
                  <a:srgbClr val="212121"/>
                </a:solidFill>
                <a:latin typeface="Calibri"/>
              </a:rPr>
              <a:t> — no hardware and no brand lock-in; optional connected-car link sharpens accuracy on newer cars.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Fleet view for MSMEs</a:t>
            </a:r>
            <a:r>
              <a:rPr sz="1600">
                <a:solidFill>
                  <a:srgbClr val="212121"/>
                </a:solidFill>
                <a:latin typeface="Calibri"/>
              </a:rPr>
              <a:t> — small businesses see emissions and service alerts across all their vehicles in one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Feasibility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703320" cy="50292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9304"/>
            <a:ext cx="3703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Technical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828800"/>
            <a:ext cx="3703320" cy="448056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2011680"/>
            <a:ext cx="3374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Built on proven, public building blocks: Bluetooth and activity-recognition triggers, phone GPS, and standard emission models (BS6 norms, COPERT / EPA factors).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Stack: Flutter app (Android-first), FastAPI backend, cloud database - all free, mature tools.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Accuracy: estimates, not certified readings - but trend and drift detection is reliable because every car is compared with its own baseline.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234440"/>
            <a:ext cx="3703320" cy="50292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289304"/>
            <a:ext cx="3703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Economic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828800"/>
            <a:ext cx="3703320" cy="448056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2011680"/>
            <a:ext cx="3374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Zero hardware means near-zero marginal cost per user; the entire MVP can be built on free tiers.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Freemium model: personal use free; premium analytics and MSME fleet dashboards subscription-based.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No inventory, logistics or servicing costs - pure software scaling.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234440"/>
            <a:ext cx="3703320" cy="50292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289304"/>
            <a:ext cx="3703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Market &amp;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828800"/>
            <a:ext cx="3703320" cy="448056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011680"/>
            <a:ext cx="3374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India has 30+ crore registered vehicles and PUC certification is legally mandatory - awareness of emissions is universal.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Onboarding takes minutes: install, pick your car model, pair Bluetooth once.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MVP is buildable by a small student team within the hackathon timeline.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UN Sustainable Development Goals We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08176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07008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Good Health &amp; Well-Being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207008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Vehicle exhaust is a major source of urban air pollution; fixing high-emitting engines earlier directly cuts the pollutants people breathe.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267712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487168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Industry, Innovation &amp;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286000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A software-only innovation that upgrades emission monitoring without any new physical infrastructure or hardware manufacturing.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46704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66160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364992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Sustainable Cities &amp; Communities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364992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Cleaner running vehicles and fewer failed emission tests mean healthier, more sustainable city air.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425696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645152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443984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Responsible Consumption &amp;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443984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Emission and driving-style feedback nudges owners toward efficient driving and timely maintenance, reducing fuel waste.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504688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724144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22976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Climate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522976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Continuous CO2 tracking makes every owner's carbon footprint visible and actionable - small per-car savings multiplied across millions of vehicles.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Budget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1136599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783080"/>
                <a:gridCol w="1783080"/>
                <a:gridCol w="505663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4008" marR="64008" marT="18288" marB="18288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MVP / Hackathon</a:t>
                      </a:r>
                    </a:p>
                  </a:txBody>
                  <a:tcPr marL="64008" marR="64008" marT="18288" marB="18288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Pilot (Year 1)</a:t>
                      </a:r>
                    </a:p>
                  </a:txBody>
                  <a:tcPr marL="64008" marR="64008" marT="18288" marB="18288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64008" marR="64008" marT="18288" marB="18288" anchor="ctr">
                    <a:solidFill>
                      <a:srgbClr val="1B5E2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App &amp; backend development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₹0 (in-house)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₹0 (in-house)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Built by the team on free, open-source tools (Flutter, FastAPI)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Cloud hosting &amp; database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₹0 (free tier)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₹18,000 - 30,000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Free tiers cover the demo; ~₹1,500-2,500/month at pilot scale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Google Play developer account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₹2,100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One-time fee (~USD 25)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Apple App Store (optional, later)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₹8,500 / year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Only when the iOS version ships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Domain, SSL &amp; email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₹1,000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₹1,500 / year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Project website and support email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Emission factors &amp; connected-car APIs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₹0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₹0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BS6/COPERT factors are published; connected-car dev tiers are free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Automatic fill-up capture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₹0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₹0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Payment-notification parsing runs fully on-device - no SMS gateway or OCR service fees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OBD dev &amp; calibration dongles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₹1,500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₹5,000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2 ELM327 adapters for development; 10-car calibration fleet in year 1. Dev-time only - pro-tier users buy their own (~₹500)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Pilot outreach &amp; testing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₹2,000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₹10,000 - 15,000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Posters, test-drive fuel, feedback incentives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  <a:latin typeface="Calibri"/>
                        </a:rPr>
                        <a:t>Contingency (~15%)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₹1,000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₹8,000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Buffer for overruns</a:t>
                      </a:r>
                    </a:p>
                  </a:txBody>
                  <a:tcPr marL="64008" marR="64008" marT="18288" marB="18288" anchor="ctr">
                    <a:solidFill>
                      <a:srgbClr val="F1F8E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806440"/>
            <a:ext cx="5486400" cy="73152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861304"/>
            <a:ext cx="5212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Total MVP: ~₹7,500      Year-1 pilot: ~₹55,000 - 70,000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5806440"/>
            <a:ext cx="5605272" cy="73152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5861304"/>
            <a:ext cx="5303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B5E20"/>
                </a:solidFill>
                <a:latin typeface="Calibri"/>
              </a:rPr>
              <a:t>Zero per-user hardware cost: dongles are dev-time calibration tools, and automatic capture is pure software.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